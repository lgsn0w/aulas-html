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0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 spc="150">
                <a:solidFill>
                  <a:srgbClr val="F6A623"/>
                </a:solidFill>
                <a:latin typeface="Calibri"/>
              </a:rPr>
              <a:t>ALGORITMOS  ·  WEB  ·  JAVASCRIPT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0584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JavaScript: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06040"/>
            <a:ext cx="100584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0" b="1" i="0">
                <a:solidFill>
                  <a:srgbClr val="C9CBE6"/>
                </a:solidFill>
                <a:latin typeface="Cambria"/>
              </a:rPr>
              <a:t>botões que fazem coisas.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66160"/>
            <a:ext cx="9418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B9BEEA"/>
                </a:solidFill>
                <a:latin typeface="Calibri"/>
              </a:rPr>
              <a:t>Do zero, com muitos exemplos pequenos. A mesma receita, repetida várias vezes.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434840"/>
            <a:ext cx="333756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4617720"/>
            <a:ext cx="28254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E2044"/>
                </a:solidFill>
                <a:latin typeface="Calibri"/>
              </a:rPr>
              <a:t>HOJE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4910328"/>
            <a:ext cx="2825496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262A4A"/>
                </a:solidFill>
                <a:latin typeface="Calibri"/>
              </a:rPr>
              <a:t>cinco botões diferentes, todos com a mesma receita de 3 passos.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4434840"/>
            <a:ext cx="333756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6552" y="4617720"/>
            <a:ext cx="28254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E2044"/>
                </a:solidFill>
                <a:latin typeface="Calibri"/>
              </a:rPr>
              <a:t>COMO VAMOS TRABALHAR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4910328"/>
            <a:ext cx="2825496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262A4A"/>
                </a:solidFill>
                <a:latin typeface="Calibri"/>
              </a:rPr>
              <a:t>devagar, com bastante repetição — não precisa decorar nada.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4434840"/>
            <a:ext cx="333756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28432" y="4617720"/>
            <a:ext cx="28254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E2044"/>
                </a:solidFill>
                <a:latin typeface="Calibri"/>
              </a:rPr>
              <a:t>REGRA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432" y="4910328"/>
            <a:ext cx="2825496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262A4A"/>
                </a:solidFill>
                <a:latin typeface="Calibri"/>
              </a:rPr>
              <a:t>se der erro, não tem problema. Todo mundo erra — a gente lê o erro e conserta.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B9BEEA"/>
                </a:solidFill>
                <a:latin typeface="Calibri"/>
              </a:rPr>
              <a:t>JAVASCRIPT · BOTÕES · CARTÃO DIGITAL ·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 spc="150">
                <a:solidFill>
                  <a:srgbClr val="6B3FA0"/>
                </a:solidFill>
                <a:latin typeface="Calibri"/>
              </a:rPr>
              <a:t>FUNDAMENTOS</a:t>
            </a:r>
          </a:p>
        </p:txBody>
      </p:sp>
      <p:sp>
        <p:nvSpPr>
          <p:cNvPr id="3" name="Oval 2"/>
          <p:cNvSpPr/>
          <p:nvPr/>
        </p:nvSpPr>
        <p:spPr>
          <a:xfrm>
            <a:off x="11045952" y="384048"/>
            <a:ext cx="594360" cy="594360"/>
          </a:xfrm>
          <a:prstGeom prst="ellipse">
            <a:avLst/>
          </a:prstGeom>
          <a:solidFill>
            <a:srgbClr val="6B3FA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45952" y="384048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6B3FA0"/>
                </a:solidFill>
                <a:latin typeface="Cambria"/>
              </a:rPr>
              <a:t>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E2044"/>
                </a:solidFill>
                <a:latin typeface="Cambria"/>
              </a:rPr>
              <a:t>O único padrão que você precisa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2876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0" i="1">
                <a:solidFill>
                  <a:srgbClr val="6E7191"/>
                </a:solidFill>
                <a:latin typeface="Calibri"/>
              </a:rPr>
              <a:t>Hoje a gente usa a mesma receita de 3 passos em cinco botões diferentes. Só isso.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3450336" cy="3383280"/>
          </a:xfrm>
          <a:prstGeom prst="roundRect">
            <a:avLst>
              <a:gd name="adj" fmla="val 5000"/>
            </a:avLst>
          </a:prstGeom>
          <a:solidFill>
            <a:srgbClr val="F2EEF9"/>
          </a:solidFill>
          <a:ln>
            <a:noFill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999488" y="2286000"/>
            <a:ext cx="548640" cy="548640"/>
          </a:xfrm>
          <a:prstGeom prst="ellipse">
            <a:avLst/>
          </a:prstGeom>
          <a:solidFill>
            <a:srgbClr val="6B3FA0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99488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71800"/>
            <a:ext cx="308457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1E2044"/>
                </a:solidFill>
                <a:latin typeface="Calibri"/>
              </a:rPr>
              <a:t>ACHAR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91840"/>
            <a:ext cx="3084576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 i="0">
                <a:solidFill>
                  <a:srgbClr val="262A4A"/>
                </a:solidFill>
                <a:latin typeface="Calibri"/>
              </a:rPr>
              <a:t>Pegar o botão do HTML, usando o id dele.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4023360"/>
            <a:ext cx="301142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6B3FA0"/>
                </a:solidFill>
                <a:latin typeface="Courier New"/>
              </a:rPr>
              <a:t>let botao = document.getElementById('meu-botao')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72712" y="2103120"/>
            <a:ext cx="3450336" cy="3383280"/>
          </a:xfrm>
          <a:prstGeom prst="roundRect">
            <a:avLst>
              <a:gd name="adj" fmla="val 5000"/>
            </a:avLst>
          </a:prstGeom>
          <a:solidFill>
            <a:srgbClr val="F2EEF9"/>
          </a:solidFill>
          <a:ln>
            <a:noFill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623560" y="2286000"/>
            <a:ext cx="548640" cy="548640"/>
          </a:xfrm>
          <a:prstGeom prst="ellipse">
            <a:avLst/>
          </a:prstGeom>
          <a:solidFill>
            <a:srgbClr val="6B3FA0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2356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5592" y="2971800"/>
            <a:ext cx="308457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1E2044"/>
                </a:solidFill>
                <a:latin typeface="Calibri"/>
              </a:rPr>
              <a:t>ESCUTAR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55592" y="3291840"/>
            <a:ext cx="3084576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 i="0">
                <a:solidFill>
                  <a:srgbClr val="262A4A"/>
                </a:solidFill>
                <a:latin typeface="Calibri"/>
              </a:rPr>
              <a:t>Avisar o JS: “fique de olho nesse botão”.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2168" y="4023360"/>
            <a:ext cx="301142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6B3FA0"/>
                </a:solidFill>
                <a:latin typeface="Courier New"/>
              </a:rPr>
              <a:t>botao.addEventListener('click', minhaFuncao)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96784" y="2103120"/>
            <a:ext cx="3450336" cy="3383280"/>
          </a:xfrm>
          <a:prstGeom prst="roundRect">
            <a:avLst>
              <a:gd name="adj" fmla="val 5000"/>
            </a:avLst>
          </a:prstGeom>
          <a:solidFill>
            <a:srgbClr val="F2EEF9"/>
          </a:solidFill>
          <a:ln>
            <a:noFill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47632" y="2286000"/>
            <a:ext cx="548640" cy="548640"/>
          </a:xfrm>
          <a:prstGeom prst="ellipse">
            <a:avLst/>
          </a:prstGeom>
          <a:solidFill>
            <a:srgbClr val="6B3FA0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7632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79664" y="2971800"/>
            <a:ext cx="308457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1E2044"/>
                </a:solidFill>
                <a:latin typeface="Calibri"/>
              </a:rPr>
              <a:t>FAZER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79664" y="3291840"/>
            <a:ext cx="3084576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 i="0">
                <a:solidFill>
                  <a:srgbClr val="262A4A"/>
                </a:solidFill>
                <a:latin typeface="Calibri"/>
              </a:rPr>
              <a:t>Escrever o que deve acontecer quando clicar.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16240" y="4023360"/>
            <a:ext cx="301142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6B3FA0"/>
                </a:solidFill>
                <a:latin typeface="Courier New"/>
              </a:rPr>
              <a:t>function minhaFuncao() {</a:t>
            </a:r>
          </a:p>
          <a:p>
            <a:pPr algn="l"/>
            <a:r>
              <a:rPr sz="950" b="1" i="0">
                <a:solidFill>
                  <a:srgbClr val="6B3FA0"/>
                </a:solidFill>
                <a:latin typeface="Courier New"/>
              </a:rPr>
              <a:t>  // o que acontece aqui</a:t>
            </a:r>
          </a:p>
          <a:p>
            <a:pPr algn="l"/>
            <a:r>
              <a:rPr sz="950" b="1" i="0">
                <a:solidFill>
                  <a:srgbClr val="6B3FA0"/>
                </a:solidFill>
                <a:latin typeface="Courier New"/>
              </a:rPr>
              <a:t>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E7191"/>
                </a:solidFill>
                <a:latin typeface="Calibri"/>
              </a:rPr>
              <a:t>JAVASCRIPT · BOTÕES · CARTÃO DIGITAL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 spc="150">
                <a:solidFill>
                  <a:srgbClr val="6B3FA0"/>
                </a:solidFill>
                <a:latin typeface="Calibri"/>
              </a:rPr>
              <a:t>DEMO</a:t>
            </a:r>
          </a:p>
        </p:txBody>
      </p:sp>
      <p:sp>
        <p:nvSpPr>
          <p:cNvPr id="3" name="Oval 2"/>
          <p:cNvSpPr/>
          <p:nvPr/>
        </p:nvSpPr>
        <p:spPr>
          <a:xfrm>
            <a:off x="11045952" y="384048"/>
            <a:ext cx="594360" cy="594360"/>
          </a:xfrm>
          <a:prstGeom prst="ellipse">
            <a:avLst/>
          </a:prstGeom>
          <a:solidFill>
            <a:srgbClr val="6B3FA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45952" y="384048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6B3FA0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E2044"/>
                </a:solidFill>
                <a:latin typeface="Cambria"/>
              </a:rPr>
              <a:t>Exemplo 1: um botão que muda o 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2876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0" i="1">
                <a:solidFill>
                  <a:srgbClr val="6E7191"/>
                </a:solidFill>
                <a:latin typeface="Calibri"/>
              </a:rPr>
              <a:t>A receita de sempre: achar o elemento → escutar o clique → fazer alguma coisa.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6E7191"/>
                </a:solidFill>
                <a:latin typeface="Calibri"/>
              </a:rPr>
              <a:t>HTML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5120640" cy="1097280"/>
          </a:xfrm>
          <a:prstGeom prst="roundRect">
            <a:avLst>
              <a:gd name="adj" fmla="val 4375"/>
            </a:avLst>
          </a:prstGeom>
          <a:solidFill>
            <a:srgbClr val="1E2044"/>
          </a:solidFill>
          <a:ln>
            <a:noFill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514600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B9BEEA"/>
                </a:solidFill>
                <a:latin typeface="Courier New"/>
              </a:rPr>
              <a:t>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06040"/>
            <a:ext cx="4663440" cy="6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0" i="0">
                <a:solidFill>
                  <a:srgbClr val="E8E6F0"/>
                </a:solidFill>
                <a:latin typeface="Courier New"/>
              </a:rPr>
              <a:t>&lt;button id="btn-oi"&gt;Diga oi&lt;/button&gt;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10312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6E7191"/>
                </a:solidFill>
                <a:latin typeface="Calibri"/>
              </a:rPr>
              <a:t>JS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423160"/>
            <a:ext cx="5120640" cy="2831770"/>
          </a:xfrm>
          <a:prstGeom prst="roundRect">
            <a:avLst>
              <a:gd name="adj" fmla="val 4375"/>
            </a:avLst>
          </a:prstGeom>
          <a:solidFill>
            <a:srgbClr val="1E2044"/>
          </a:solidFill>
          <a:ln>
            <a:noFill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95560" y="2514600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B9BEEA"/>
                </a:solidFill>
                <a:latin typeface="Courier New"/>
              </a:rPr>
              <a:t>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706040"/>
            <a:ext cx="4663440" cy="2366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E8E6F0"/>
                </a:solidFill>
                <a:latin typeface="Courier New"/>
              </a:rPr>
              <a:t>let botao = document.getElementById('btn-oi')</a:t>
            </a:r>
          </a:p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E8E6F0"/>
                </a:solidFill>
                <a:latin typeface="Courier New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E8E6F0"/>
                </a:solidFill>
                <a:latin typeface="Courier New"/>
              </a:rPr>
              <a:t>function dizerOi() {</a:t>
            </a:r>
          </a:p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E8E6F0"/>
                </a:solidFill>
                <a:latin typeface="Courier New"/>
              </a:rPr>
              <a:t>  botao.innerText = 'Oi! Tudo bem?'</a:t>
            </a:r>
          </a:p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E8E6F0"/>
                </a:solidFill>
                <a:latin typeface="Courier New"/>
              </a:rPr>
              <a:t>}</a:t>
            </a:r>
          </a:p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E8E6F0"/>
                </a:solidFill>
                <a:latin typeface="Courier New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E8E6F0"/>
                </a:solidFill>
                <a:latin typeface="Courier New"/>
              </a:rPr>
              <a:t>botao.addEventListener('click', dizerOi)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E7191"/>
                </a:solidFill>
                <a:latin typeface="Calibri"/>
              </a:rPr>
              <a:t>JAVASCRIPT · BOTÕES · CARTÃO DIGITAL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 spc="150">
                <a:solidFill>
                  <a:srgbClr val="6B3FA0"/>
                </a:solidFill>
                <a:latin typeface="Calibri"/>
              </a:rPr>
              <a:t>DEMO</a:t>
            </a:r>
          </a:p>
        </p:txBody>
      </p:sp>
      <p:sp>
        <p:nvSpPr>
          <p:cNvPr id="3" name="Oval 2"/>
          <p:cNvSpPr/>
          <p:nvPr/>
        </p:nvSpPr>
        <p:spPr>
          <a:xfrm>
            <a:off x="11045952" y="384048"/>
            <a:ext cx="594360" cy="594360"/>
          </a:xfrm>
          <a:prstGeom prst="ellipse">
            <a:avLst/>
          </a:prstGeom>
          <a:solidFill>
            <a:srgbClr val="6B3FA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45952" y="384048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6B3FA0"/>
                </a:solidFill>
                <a:latin typeface="Cambri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E2044"/>
                </a:solidFill>
                <a:latin typeface="Cambria"/>
              </a:rPr>
              <a:t>Exemplo 2: um botão que muda a cor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2876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0" i="1">
                <a:solidFill>
                  <a:srgbClr val="6E7191"/>
                </a:solidFill>
                <a:latin typeface="Calibri"/>
              </a:rPr>
              <a:t>A receita de sempre: achar o elemento → escutar o clique → fazer alguma coisa.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6E7191"/>
                </a:solidFill>
                <a:latin typeface="Calibri"/>
              </a:rPr>
              <a:t>HTML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5120640" cy="1097280"/>
          </a:xfrm>
          <a:prstGeom prst="roundRect">
            <a:avLst>
              <a:gd name="adj" fmla="val 4375"/>
            </a:avLst>
          </a:prstGeom>
          <a:solidFill>
            <a:srgbClr val="1E2044"/>
          </a:solidFill>
          <a:ln>
            <a:noFill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514600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B9BEEA"/>
                </a:solidFill>
                <a:latin typeface="Courier New"/>
              </a:rPr>
              <a:t>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06040"/>
            <a:ext cx="4663440" cy="6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0" i="0">
                <a:solidFill>
                  <a:srgbClr val="E8E6F0"/>
                </a:solidFill>
                <a:latin typeface="Courier New"/>
              </a:rPr>
              <a:t>&lt;button id="btn-cor"&gt;Mudar cor&lt;/button&gt;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10312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6E7191"/>
                </a:solidFill>
                <a:latin typeface="Calibri"/>
              </a:rPr>
              <a:t>JS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423160"/>
            <a:ext cx="5120640" cy="2831770"/>
          </a:xfrm>
          <a:prstGeom prst="roundRect">
            <a:avLst>
              <a:gd name="adj" fmla="val 4375"/>
            </a:avLst>
          </a:prstGeom>
          <a:solidFill>
            <a:srgbClr val="1E2044"/>
          </a:solidFill>
          <a:ln>
            <a:noFill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95560" y="2514600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B9BEEA"/>
                </a:solidFill>
                <a:latin typeface="Courier New"/>
              </a:rPr>
              <a:t>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706040"/>
            <a:ext cx="4663440" cy="2366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E8E6F0"/>
                </a:solidFill>
                <a:latin typeface="Courier New"/>
              </a:rPr>
              <a:t>let botaoCor = document.getElementById('btn-cor')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E8E6F0"/>
                </a:solidFill>
                <a:latin typeface="Courier New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E8E6F0"/>
                </a:solidFill>
                <a:latin typeface="Courier New"/>
              </a:rPr>
              <a:t>function mudarCor() {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E8E6F0"/>
                </a:solidFill>
                <a:latin typeface="Courier New"/>
              </a:rPr>
              <a:t>  document.body.style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E8E6F0"/>
                </a:solidFill>
                <a:latin typeface="Courier New"/>
              </a:rPr>
              <a:t>    .backgroundColor = '#fef3c7'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E8E6F0"/>
                </a:solidFill>
                <a:latin typeface="Courier New"/>
              </a:rPr>
              <a:t>}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E8E6F0"/>
                </a:solidFill>
                <a:latin typeface="Courier New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E8E6F0"/>
                </a:solidFill>
                <a:latin typeface="Courier New"/>
              </a:rPr>
              <a:t>botaoCor.addEventListener('click', mudarCor)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E7191"/>
                </a:solidFill>
                <a:latin typeface="Calibri"/>
              </a:rPr>
              <a:t>JAVASCRIPT · BOTÕES · CARTÃO DIGITAL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 spc="150">
                <a:solidFill>
                  <a:srgbClr val="6B3FA0"/>
                </a:solidFill>
                <a:latin typeface="Calibri"/>
              </a:rPr>
              <a:t>DEMO</a:t>
            </a:r>
          </a:p>
        </p:txBody>
      </p:sp>
      <p:sp>
        <p:nvSpPr>
          <p:cNvPr id="3" name="Oval 2"/>
          <p:cNvSpPr/>
          <p:nvPr/>
        </p:nvSpPr>
        <p:spPr>
          <a:xfrm>
            <a:off x="11045952" y="384048"/>
            <a:ext cx="594360" cy="594360"/>
          </a:xfrm>
          <a:prstGeom prst="ellipse">
            <a:avLst/>
          </a:prstGeom>
          <a:solidFill>
            <a:srgbClr val="6B3FA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45952" y="384048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6B3FA0"/>
                </a:solidFill>
                <a:latin typeface="Cambri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E2044"/>
                </a:solidFill>
                <a:latin typeface="Cambria"/>
              </a:rPr>
              <a:t>Exemplo 3: um botão que conta cliques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2876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0" i="1">
                <a:solidFill>
                  <a:srgbClr val="6E7191"/>
                </a:solidFill>
                <a:latin typeface="Calibri"/>
              </a:rPr>
              <a:t>A receita de sempre: achar o elemento → escutar o clique → fazer alguma coisa.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6E7191"/>
                </a:solidFill>
                <a:latin typeface="Calibri"/>
              </a:rPr>
              <a:t>HTML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5120640" cy="1097280"/>
          </a:xfrm>
          <a:prstGeom prst="roundRect">
            <a:avLst>
              <a:gd name="adj" fmla="val 4375"/>
            </a:avLst>
          </a:prstGeom>
          <a:solidFill>
            <a:srgbClr val="1E2044"/>
          </a:solidFill>
          <a:ln>
            <a:noFill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514600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B9BEEA"/>
                </a:solidFill>
                <a:latin typeface="Courier New"/>
              </a:rPr>
              <a:t>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06040"/>
            <a:ext cx="4663440" cy="6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 i="0">
                <a:solidFill>
                  <a:srgbClr val="E8E6F0"/>
                </a:solidFill>
                <a:latin typeface="Courier New"/>
              </a:rPr>
              <a:t>&lt;button id="btn-curtir"&gt;❤️ Curtir&lt;/button&gt;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10312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6E7191"/>
                </a:solidFill>
                <a:latin typeface="Calibri"/>
              </a:rPr>
              <a:t>JS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423160"/>
            <a:ext cx="5120640" cy="2831770"/>
          </a:xfrm>
          <a:prstGeom prst="roundRect">
            <a:avLst>
              <a:gd name="adj" fmla="val 4375"/>
            </a:avLst>
          </a:prstGeom>
          <a:solidFill>
            <a:srgbClr val="1E2044"/>
          </a:solidFill>
          <a:ln>
            <a:noFill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95560" y="2514600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B9BEEA"/>
                </a:solidFill>
                <a:latin typeface="Courier New"/>
              </a:rPr>
              <a:t>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706040"/>
            <a:ext cx="4663440" cy="2366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8E6F0"/>
                </a:solidFill>
                <a:latin typeface="Courier New"/>
              </a:rPr>
              <a:t>let botaoCurtir = document.getElementById('btn-curtir')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8E6F0"/>
                </a:solidFill>
                <a:latin typeface="Courier New"/>
              </a:rPr>
              <a:t>let curtidas = 0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8E6F0"/>
                </a:solidFill>
                <a:latin typeface="Courier New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8E6F0"/>
                </a:solidFill>
                <a:latin typeface="Courier New"/>
              </a:rPr>
              <a:t>function contarCurtida() {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8E6F0"/>
                </a:solidFill>
                <a:latin typeface="Courier New"/>
              </a:rPr>
              <a:t>  curtidas = curtidas + 1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8E6F0"/>
                </a:solidFill>
                <a:latin typeface="Courier New"/>
              </a:rPr>
              <a:t>  botaoCurtir.innerText = '❤️ ' + curtidas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8E6F0"/>
                </a:solidFill>
                <a:latin typeface="Courier New"/>
              </a:rPr>
              <a:t>}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8E6F0"/>
                </a:solidFill>
                <a:latin typeface="Courier New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8E6F0"/>
                </a:solidFill>
                <a:latin typeface="Courier New"/>
              </a:rPr>
              <a:t>botaoCurtir.addEventListener('click', contarCurtida)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E7191"/>
                </a:solidFill>
                <a:latin typeface="Calibri"/>
              </a:rPr>
              <a:t>JAVASCRIPT · BOTÕES · CARTÃO DIGITAL ·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 spc="150">
                <a:solidFill>
                  <a:srgbClr val="6B3FA0"/>
                </a:solidFill>
                <a:latin typeface="Calibri"/>
              </a:rPr>
              <a:t>DEMO</a:t>
            </a:r>
          </a:p>
        </p:txBody>
      </p:sp>
      <p:sp>
        <p:nvSpPr>
          <p:cNvPr id="3" name="Oval 2"/>
          <p:cNvSpPr/>
          <p:nvPr/>
        </p:nvSpPr>
        <p:spPr>
          <a:xfrm>
            <a:off x="11045952" y="384048"/>
            <a:ext cx="594360" cy="594360"/>
          </a:xfrm>
          <a:prstGeom prst="ellipse">
            <a:avLst/>
          </a:prstGeom>
          <a:solidFill>
            <a:srgbClr val="6B3FA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45952" y="384048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6B3FA0"/>
                </a:solidFill>
                <a:latin typeface="Cambri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E2044"/>
                </a:solidFill>
                <a:latin typeface="Cambria"/>
              </a:rPr>
              <a:t>Exemplo 4: um botão que esconde algo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2876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0" i="1">
                <a:solidFill>
                  <a:srgbClr val="6E7191"/>
                </a:solidFill>
                <a:latin typeface="Calibri"/>
              </a:rPr>
              <a:t>A receita de sempre: achar o elemento → escutar o clique → fazer alguma coisa.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6E7191"/>
                </a:solidFill>
                <a:latin typeface="Calibri"/>
              </a:rPr>
              <a:t>HTML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5120640" cy="1097280"/>
          </a:xfrm>
          <a:prstGeom prst="roundRect">
            <a:avLst>
              <a:gd name="adj" fmla="val 4375"/>
            </a:avLst>
          </a:prstGeom>
          <a:solidFill>
            <a:srgbClr val="1E2044"/>
          </a:solidFill>
          <a:ln>
            <a:noFill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514600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B9BEEA"/>
                </a:solidFill>
                <a:latin typeface="Courier New"/>
              </a:rPr>
              <a:t>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06040"/>
            <a:ext cx="4663440" cy="6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E8E6F0"/>
                </a:solidFill>
                <a:latin typeface="Courier New"/>
              </a:rPr>
              <a:t>&lt;button id="btn-esconder"&gt;Esconder aviso&lt;/button&gt;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E8E6F0"/>
                </a:solidFill>
                <a:latin typeface="Courier New"/>
              </a:rPr>
              <a:t>&lt;p id="aviso"&gt;Isso é um aviso!&lt;/p&gt;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10312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6E7191"/>
                </a:solidFill>
                <a:latin typeface="Calibri"/>
              </a:rPr>
              <a:t>JS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423160"/>
            <a:ext cx="5120640" cy="2831770"/>
          </a:xfrm>
          <a:prstGeom prst="roundRect">
            <a:avLst>
              <a:gd name="adj" fmla="val 4375"/>
            </a:avLst>
          </a:prstGeom>
          <a:solidFill>
            <a:srgbClr val="1E2044"/>
          </a:solidFill>
          <a:ln>
            <a:noFill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95560" y="2514600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B9BEEA"/>
                </a:solidFill>
                <a:latin typeface="Courier New"/>
              </a:rPr>
              <a:t>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706040"/>
            <a:ext cx="4663440" cy="2366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E8E6F0"/>
                </a:solidFill>
                <a:latin typeface="Courier New"/>
              </a:rPr>
              <a:t>let botaoEsc = document.getElementById('btn-esconder')</a:t>
            </a:r>
          </a:p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E8E6F0"/>
                </a:solidFill>
                <a:latin typeface="Courier New"/>
              </a:rPr>
              <a:t>let aviso = document.getElementById('aviso')</a:t>
            </a:r>
          </a:p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E8E6F0"/>
                </a:solidFill>
                <a:latin typeface="Courier New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E8E6F0"/>
                </a:solidFill>
                <a:latin typeface="Courier New"/>
              </a:rPr>
              <a:t>function esconderAviso() {</a:t>
            </a:r>
          </a:p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E8E6F0"/>
                </a:solidFill>
                <a:latin typeface="Courier New"/>
              </a:rPr>
              <a:t>  aviso.style.display = 'none'</a:t>
            </a:r>
          </a:p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E8E6F0"/>
                </a:solidFill>
                <a:latin typeface="Courier New"/>
              </a:rPr>
              <a:t>}</a:t>
            </a:r>
          </a:p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E8E6F0"/>
                </a:solidFill>
                <a:latin typeface="Courier New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E8E6F0"/>
                </a:solidFill>
                <a:latin typeface="Courier New"/>
              </a:rPr>
              <a:t>botaoEsc.addEventListener('click', esconderAviso)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E7191"/>
                </a:solidFill>
                <a:latin typeface="Calibri"/>
              </a:rPr>
              <a:t>JAVASCRIPT · BOTÕES · CARTÃO DIGITAL ·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 spc="150">
                <a:solidFill>
                  <a:srgbClr val="6B3FA0"/>
                </a:solidFill>
                <a:latin typeface="Calibri"/>
              </a:rPr>
              <a:t>DEMO</a:t>
            </a:r>
          </a:p>
        </p:txBody>
      </p:sp>
      <p:sp>
        <p:nvSpPr>
          <p:cNvPr id="3" name="Oval 2"/>
          <p:cNvSpPr/>
          <p:nvPr/>
        </p:nvSpPr>
        <p:spPr>
          <a:xfrm>
            <a:off x="11045952" y="384048"/>
            <a:ext cx="594360" cy="594360"/>
          </a:xfrm>
          <a:prstGeom prst="ellipse">
            <a:avLst/>
          </a:prstGeom>
          <a:solidFill>
            <a:srgbClr val="6B3FA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45952" y="384048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6B3FA0"/>
                </a:solidFill>
                <a:latin typeface="Cambri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E2044"/>
                </a:solidFill>
                <a:latin typeface="Cambria"/>
              </a:rPr>
              <a:t>Exemplo 5: um botão que mostra um alerta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2876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0" i="1">
                <a:solidFill>
                  <a:srgbClr val="6E7191"/>
                </a:solidFill>
                <a:latin typeface="Calibri"/>
              </a:rPr>
              <a:t>A receita de sempre: achar o elemento → escutar o clique → fazer alguma coisa.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6E7191"/>
                </a:solidFill>
                <a:latin typeface="Calibri"/>
              </a:rPr>
              <a:t>HTML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5120640" cy="1097280"/>
          </a:xfrm>
          <a:prstGeom prst="roundRect">
            <a:avLst>
              <a:gd name="adj" fmla="val 4375"/>
            </a:avLst>
          </a:prstGeom>
          <a:solidFill>
            <a:srgbClr val="1E2044"/>
          </a:solidFill>
          <a:ln>
            <a:noFill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514600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B9BEEA"/>
                </a:solidFill>
                <a:latin typeface="Courier New"/>
              </a:rPr>
              <a:t>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06040"/>
            <a:ext cx="4663440" cy="6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0" i="0">
                <a:solidFill>
                  <a:srgbClr val="E8E6F0"/>
                </a:solidFill>
                <a:latin typeface="Courier New"/>
              </a:rPr>
              <a:t>&lt;button id="btn-oba"&gt;Clique aqui&lt;/button&gt;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10312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6E7191"/>
                </a:solidFill>
                <a:latin typeface="Calibri"/>
              </a:rPr>
              <a:t>JS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423160"/>
            <a:ext cx="5120640" cy="2831770"/>
          </a:xfrm>
          <a:prstGeom prst="roundRect">
            <a:avLst>
              <a:gd name="adj" fmla="val 4375"/>
            </a:avLst>
          </a:prstGeom>
          <a:solidFill>
            <a:srgbClr val="1E2044"/>
          </a:solidFill>
          <a:ln>
            <a:noFill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95560" y="2514600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B9BEEA"/>
                </a:solidFill>
                <a:latin typeface="Courier New"/>
              </a:rPr>
              <a:t>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706040"/>
            <a:ext cx="4663440" cy="2366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E8E6F0"/>
                </a:solidFill>
                <a:latin typeface="Courier New"/>
              </a:rPr>
              <a:t>let botaoOba = document.getElementById('btn-oba')</a:t>
            </a:r>
          </a:p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E8E6F0"/>
                </a:solidFill>
                <a:latin typeface="Courier New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E8E6F0"/>
                </a:solidFill>
                <a:latin typeface="Courier New"/>
              </a:rPr>
              <a:t>function mostrarAlerta() {</a:t>
            </a:r>
          </a:p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E8E6F0"/>
                </a:solidFill>
                <a:latin typeface="Courier New"/>
              </a:rPr>
              <a:t>  alert('Você clicou no botão!')</a:t>
            </a:r>
          </a:p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E8E6F0"/>
                </a:solidFill>
                <a:latin typeface="Courier New"/>
              </a:rPr>
              <a:t>}</a:t>
            </a:r>
          </a:p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E8E6F0"/>
                </a:solidFill>
                <a:latin typeface="Courier New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E8E6F0"/>
                </a:solidFill>
                <a:latin typeface="Courier New"/>
              </a:rPr>
              <a:t>botaoOba.addEventListener('click', mostrarAlerta)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E7191"/>
                </a:solidFill>
                <a:latin typeface="Calibri"/>
              </a:rPr>
              <a:t>JAVASCRIPT · BOTÕES · CARTÃO DIGITAL ·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 spc="150">
                <a:solidFill>
                  <a:srgbClr val="6B3FA0"/>
                </a:solidFill>
                <a:latin typeface="Calibri"/>
              </a:rPr>
              <a:t>FUNDAMENTOS</a:t>
            </a:r>
          </a:p>
        </p:txBody>
      </p:sp>
      <p:sp>
        <p:nvSpPr>
          <p:cNvPr id="3" name="Oval 2"/>
          <p:cNvSpPr/>
          <p:nvPr/>
        </p:nvSpPr>
        <p:spPr>
          <a:xfrm>
            <a:off x="11045952" y="384048"/>
            <a:ext cx="594360" cy="594360"/>
          </a:xfrm>
          <a:prstGeom prst="ellipse">
            <a:avLst/>
          </a:prstGeom>
          <a:solidFill>
            <a:srgbClr val="6B3FA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45952" y="384048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6B3FA0"/>
                </a:solidFill>
                <a:latin typeface="Cambria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E2044"/>
                </a:solidFill>
                <a:latin typeface="Cambria"/>
              </a:rPr>
              <a:t>Reparou? É sempre a mesma receita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2876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0" i="1">
                <a:solidFill>
                  <a:srgbClr val="6E7191"/>
                </a:solidFill>
                <a:latin typeface="Calibri"/>
              </a:rPr>
              <a:t>Achar e escutar foram sempre iguais. Só o nome e o que a função faz mudaram.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10698480" cy="731520"/>
          </a:xfrm>
          <a:prstGeom prst="roundRect">
            <a:avLst>
              <a:gd name="adj" fmla="val 6500"/>
            </a:avLst>
          </a:prstGeom>
          <a:solidFill>
            <a:srgbClr val="F2EEF9"/>
          </a:solidFill>
          <a:ln>
            <a:noFill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38404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 i="0">
                <a:solidFill>
                  <a:srgbClr val="6B3FA0"/>
                </a:solidFill>
                <a:latin typeface="Courier New"/>
              </a:rPr>
              <a:t>dizerOi()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103120"/>
            <a:ext cx="64008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262A4A"/>
                </a:solidFill>
                <a:latin typeface="Calibri"/>
              </a:rPr>
              <a:t>muda o texto do botão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26080"/>
            <a:ext cx="10698480" cy="731520"/>
          </a:xfrm>
          <a:prstGeom prst="roundRect">
            <a:avLst>
              <a:gd name="adj" fmla="val 6500"/>
            </a:avLst>
          </a:prstGeom>
          <a:solidFill>
            <a:srgbClr val="F2EEF9"/>
          </a:solidFill>
          <a:ln>
            <a:noFill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926080"/>
            <a:ext cx="38404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 i="0">
                <a:solidFill>
                  <a:srgbClr val="6B3FA0"/>
                </a:solidFill>
                <a:latin typeface="Courier New"/>
              </a:rPr>
              <a:t>mudarCor()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26080"/>
            <a:ext cx="64008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262A4A"/>
                </a:solidFill>
                <a:latin typeface="Calibri"/>
              </a:rPr>
              <a:t>muda a cor de fundo da página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49040"/>
            <a:ext cx="10698480" cy="731520"/>
          </a:xfrm>
          <a:prstGeom prst="roundRect">
            <a:avLst>
              <a:gd name="adj" fmla="val 6500"/>
            </a:avLst>
          </a:prstGeom>
          <a:solidFill>
            <a:srgbClr val="F2EEF9"/>
          </a:solidFill>
          <a:ln>
            <a:noFill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49040"/>
            <a:ext cx="38404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 i="0">
                <a:solidFill>
                  <a:srgbClr val="6B3FA0"/>
                </a:solidFill>
                <a:latin typeface="Courier New"/>
              </a:rPr>
              <a:t>contarCurtida()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749040"/>
            <a:ext cx="64008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262A4A"/>
                </a:solidFill>
                <a:latin typeface="Calibri"/>
              </a:rPr>
              <a:t>soma 1 e atualiza o texto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72000"/>
            <a:ext cx="10698480" cy="731520"/>
          </a:xfrm>
          <a:prstGeom prst="roundRect">
            <a:avLst>
              <a:gd name="adj" fmla="val 6500"/>
            </a:avLst>
          </a:prstGeom>
          <a:solidFill>
            <a:srgbClr val="F2EEF9"/>
          </a:solidFill>
          <a:ln>
            <a:noFill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572000"/>
            <a:ext cx="38404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 i="0">
                <a:solidFill>
                  <a:srgbClr val="6B3FA0"/>
                </a:solidFill>
                <a:latin typeface="Courier New"/>
              </a:rPr>
              <a:t>esconderAviso()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4572000"/>
            <a:ext cx="64008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262A4A"/>
                </a:solidFill>
                <a:latin typeface="Calibri"/>
              </a:rPr>
              <a:t>esconde um elemento da tela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394960"/>
            <a:ext cx="10698480" cy="731520"/>
          </a:xfrm>
          <a:prstGeom prst="roundRect">
            <a:avLst>
              <a:gd name="adj" fmla="val 6500"/>
            </a:avLst>
          </a:prstGeom>
          <a:solidFill>
            <a:srgbClr val="F2EEF9"/>
          </a:solidFill>
          <a:ln>
            <a:noFill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394960"/>
            <a:ext cx="38404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 i="0">
                <a:solidFill>
                  <a:srgbClr val="6B3FA0"/>
                </a:solidFill>
                <a:latin typeface="Courier New"/>
              </a:rPr>
              <a:t>mostrarAlerta()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5394960"/>
            <a:ext cx="64008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262A4A"/>
                </a:solidFill>
                <a:latin typeface="Calibri"/>
              </a:rPr>
              <a:t>mostra um alerta na tela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E7191"/>
                </a:solidFill>
                <a:latin typeface="Calibri"/>
              </a:rPr>
              <a:t>JAVASCRIPT · BOTÕES · CARTÃO DIGITAL ·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 spc="150">
                <a:solidFill>
                  <a:srgbClr val="6B3FA0"/>
                </a:solidFill>
                <a:latin typeface="Calibri"/>
              </a:rPr>
              <a:t>FUNDAMENTOS</a:t>
            </a:r>
          </a:p>
        </p:txBody>
      </p:sp>
      <p:sp>
        <p:nvSpPr>
          <p:cNvPr id="3" name="Oval 2"/>
          <p:cNvSpPr/>
          <p:nvPr/>
        </p:nvSpPr>
        <p:spPr>
          <a:xfrm>
            <a:off x="11045952" y="384048"/>
            <a:ext cx="594360" cy="594360"/>
          </a:xfrm>
          <a:prstGeom prst="ellipse">
            <a:avLst/>
          </a:prstGeom>
          <a:solidFill>
            <a:srgbClr val="6B3FA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45952" y="384048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6B3FA0"/>
                </a:solidFill>
                <a:latin typeface="Cambria"/>
              </a:rPr>
              <a:t>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E2044"/>
                </a:solidFill>
                <a:latin typeface="Cambria"/>
              </a:rPr>
              <a:t>Um link funciona do mesmo jeito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2876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0" i="1">
                <a:solidFill>
                  <a:srgbClr val="6E7191"/>
                </a:solidFill>
                <a:latin typeface="Calibri"/>
              </a:rPr>
              <a:t>getElementById + addEventListener funcionam em qualquer elemento clicável — não só em botões.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48840"/>
            <a:ext cx="10698480" cy="960120"/>
          </a:xfrm>
          <a:prstGeom prst="roundRect">
            <a:avLst>
              <a:gd name="adj" fmla="val 5600"/>
            </a:avLst>
          </a:prstGeom>
          <a:solidFill>
            <a:srgbClr val="F2EEF9"/>
          </a:solidFill>
          <a:ln>
            <a:noFill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301752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6B3FA0"/>
                </a:solidFill>
                <a:latin typeface="Courier New"/>
              </a:rPr>
              <a:t>&lt;a&gt; TAMBÉM DISPARA 'click'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148840"/>
            <a:ext cx="713232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0" i="0">
                <a:solidFill>
                  <a:srgbClr val="262A4A"/>
                </a:solidFill>
                <a:latin typeface="Calibri"/>
              </a:rPr>
              <a:t>não importa se é um &lt;button&gt; ou um &lt;a&gt; — a receita é igual.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91840"/>
            <a:ext cx="10698480" cy="960120"/>
          </a:xfrm>
          <a:prstGeom prst="roundRect">
            <a:avLst>
              <a:gd name="adj" fmla="val 5600"/>
            </a:avLst>
          </a:prstGeom>
          <a:solidFill>
            <a:srgbClr val="F2EEF9"/>
          </a:solidFill>
          <a:ln>
            <a:noFill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291840"/>
            <a:ext cx="301752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6B3FA0"/>
                </a:solidFill>
                <a:latin typeface="Courier New"/>
              </a:rPr>
              <a:t>href="#"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291840"/>
            <a:ext cx="713232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0" i="0">
                <a:solidFill>
                  <a:srgbClr val="262A4A"/>
                </a:solidFill>
                <a:latin typeface="Calibri"/>
              </a:rPr>
              <a:t>um link com href="#" não sai da página, então dá pra ver o resultado na tela.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E7191"/>
                </a:solidFill>
                <a:latin typeface="Calibri"/>
              </a:rPr>
              <a:t>JAVASCRIPT · BOTÕES · CARTÃO DIGITAL ·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 spc="150">
                <a:solidFill>
                  <a:srgbClr val="6B3FA0"/>
                </a:solidFill>
                <a:latin typeface="Calibri"/>
              </a:rPr>
              <a:t>DEMO</a:t>
            </a:r>
          </a:p>
        </p:txBody>
      </p:sp>
      <p:sp>
        <p:nvSpPr>
          <p:cNvPr id="3" name="Oval 2"/>
          <p:cNvSpPr/>
          <p:nvPr/>
        </p:nvSpPr>
        <p:spPr>
          <a:xfrm>
            <a:off x="11045952" y="384048"/>
            <a:ext cx="594360" cy="594360"/>
          </a:xfrm>
          <a:prstGeom prst="ellipse">
            <a:avLst/>
          </a:prstGeom>
          <a:solidFill>
            <a:srgbClr val="6B3FA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45952" y="384048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6B3FA0"/>
                </a:solidFill>
                <a:latin typeface="Cambria"/>
              </a:rPr>
              <a:t>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E2044"/>
                </a:solidFill>
                <a:latin typeface="Cambria"/>
              </a:rPr>
              <a:t>Um link que conta cliques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2876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0" i="1">
                <a:solidFill>
                  <a:srgbClr val="6E7191"/>
                </a:solidFill>
                <a:latin typeface="Calibri"/>
              </a:rPr>
              <a:t>A receita de sempre: achar o elemento → escutar o clique → fazer alguma coisa.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6E7191"/>
                </a:solidFill>
                <a:latin typeface="Calibri"/>
              </a:rPr>
              <a:t>HTML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5120640" cy="2831770"/>
          </a:xfrm>
          <a:prstGeom prst="roundRect">
            <a:avLst>
              <a:gd name="adj" fmla="val 4375"/>
            </a:avLst>
          </a:prstGeom>
          <a:solidFill>
            <a:srgbClr val="1E2044"/>
          </a:solidFill>
          <a:ln>
            <a:noFill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514600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B9BEEA"/>
                </a:solidFill>
                <a:latin typeface="Courier New"/>
              </a:rPr>
              <a:t>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06040"/>
            <a:ext cx="4663440" cy="2366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E8E6F0"/>
                </a:solidFill>
                <a:latin typeface="Courier New"/>
              </a:rPr>
              <a:t>&lt;a id="link-portfolio" href="#"&gt;Portfólio&lt;/a&gt;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E8E6F0"/>
                </a:solidFill>
                <a:latin typeface="Courier New"/>
              </a:rPr>
              <a:t>&lt;span id="contagem"&gt;0 cliques&lt;/span&gt;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10312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6E7191"/>
                </a:solidFill>
                <a:latin typeface="Calibri"/>
              </a:rPr>
              <a:t>JS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423160"/>
            <a:ext cx="5120640" cy="2831770"/>
          </a:xfrm>
          <a:prstGeom prst="roundRect">
            <a:avLst>
              <a:gd name="adj" fmla="val 4375"/>
            </a:avLst>
          </a:prstGeom>
          <a:solidFill>
            <a:srgbClr val="1E2044"/>
          </a:solidFill>
          <a:ln>
            <a:noFill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95560" y="2514600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B9BEEA"/>
                </a:solidFill>
                <a:latin typeface="Courier New"/>
              </a:rPr>
              <a:t>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706040"/>
            <a:ext cx="4663440" cy="2366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8E6F0"/>
                </a:solidFill>
                <a:latin typeface="Courier New"/>
              </a:rPr>
              <a:t>let link = document.getElementById('link-portfolio')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8E6F0"/>
                </a:solidFill>
                <a:latin typeface="Courier New"/>
              </a:rPr>
              <a:t>let contagem = document.getElementById('contagem')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8E6F0"/>
                </a:solidFill>
                <a:latin typeface="Courier New"/>
              </a:rPr>
              <a:t>let cliques = 0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8E6F0"/>
                </a:solidFill>
                <a:latin typeface="Courier New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8E6F0"/>
                </a:solidFill>
                <a:latin typeface="Courier New"/>
              </a:rPr>
              <a:t>function contarClique() {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8E6F0"/>
                </a:solidFill>
                <a:latin typeface="Courier New"/>
              </a:rPr>
              <a:t>  cliques = cliques + 1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8E6F0"/>
                </a:solidFill>
                <a:latin typeface="Courier New"/>
              </a:rPr>
              <a:t>  contagem.innerText = cliques + ' cliques'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8E6F0"/>
                </a:solidFill>
                <a:latin typeface="Courier New"/>
              </a:rPr>
              <a:t>}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8E6F0"/>
                </a:solidFill>
                <a:latin typeface="Courier New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8E6F0"/>
                </a:solidFill>
                <a:latin typeface="Courier New"/>
              </a:rPr>
              <a:t>link.addEventListener('click', contarClique)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E7191"/>
                </a:solidFill>
                <a:latin typeface="Calibri"/>
              </a:rPr>
              <a:t>JAVASCRIPT · BOTÕES · CARTÃO DIGITAL ·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 spc="150">
                <a:solidFill>
                  <a:srgbClr val="6B3FA0"/>
                </a:solidFill>
                <a:latin typeface="Calibri"/>
              </a:rPr>
              <a:t>FUNDAMENTOS</a:t>
            </a:r>
          </a:p>
        </p:txBody>
      </p:sp>
      <p:sp>
        <p:nvSpPr>
          <p:cNvPr id="3" name="Oval 2"/>
          <p:cNvSpPr/>
          <p:nvPr/>
        </p:nvSpPr>
        <p:spPr>
          <a:xfrm>
            <a:off x="11045952" y="384048"/>
            <a:ext cx="594360" cy="594360"/>
          </a:xfrm>
          <a:prstGeom prst="ellipse">
            <a:avLst/>
          </a:prstGeom>
          <a:solidFill>
            <a:srgbClr val="6B3FA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45952" y="384048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6B3FA0"/>
                </a:solidFill>
                <a:latin typeface="Cambria"/>
              </a:rPr>
              <a:t>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E2044"/>
                </a:solidFill>
                <a:latin typeface="Cambria"/>
              </a:rPr>
              <a:t>Navbar simples: a base em HTML e CSS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2876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0" i="1">
                <a:solidFill>
                  <a:srgbClr val="6E7191"/>
                </a:solidFill>
                <a:latin typeface="Calibri"/>
              </a:rPr>
              <a:t>Antes do JS: uma lista de links organizada em linha.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10698480" cy="3551860"/>
          </a:xfrm>
          <a:prstGeom prst="roundRect">
            <a:avLst>
              <a:gd name="adj" fmla="val 4375"/>
            </a:avLst>
          </a:prstGeom>
          <a:solidFill>
            <a:srgbClr val="1E2044"/>
          </a:solidFill>
          <a:ln>
            <a:noFill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95560" y="2194560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B9BEEA"/>
                </a:solidFill>
                <a:latin typeface="Courier New"/>
              </a:rPr>
              <a:t>HTML+CSS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86000"/>
            <a:ext cx="10241280" cy="3086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0" i="0">
                <a:solidFill>
                  <a:srgbClr val="E8E6F0"/>
                </a:solidFill>
                <a:latin typeface="Courier New"/>
              </a:rPr>
              <a:t>&lt;nav&gt;</a:t>
            </a:r>
          </a:p>
          <a:p>
            <a:pPr algn="l">
              <a:lnSpc>
                <a:spcPct val="128000"/>
              </a:lnSpc>
            </a:pPr>
            <a:r>
              <a:rPr sz="1500" b="0" i="0">
                <a:solidFill>
                  <a:srgbClr val="E8E6F0"/>
                </a:solidFill>
                <a:latin typeface="Courier New"/>
              </a:rPr>
              <a:t>  &lt;ul class="nav-lista"&gt;</a:t>
            </a:r>
          </a:p>
          <a:p>
            <a:pPr algn="l">
              <a:lnSpc>
                <a:spcPct val="128000"/>
              </a:lnSpc>
            </a:pPr>
            <a:r>
              <a:rPr sz="1500" b="0" i="0">
                <a:solidFill>
                  <a:srgbClr val="E8E6F0"/>
                </a:solidFill>
                <a:latin typeface="Courier New"/>
              </a:rPr>
              <a:t>    &lt;li&gt;&lt;a id="link-sobre" href="#"&gt;Sobre&lt;/a&gt;&lt;/li&gt;</a:t>
            </a:r>
          </a:p>
          <a:p>
            <a:pPr algn="l">
              <a:lnSpc>
                <a:spcPct val="128000"/>
              </a:lnSpc>
            </a:pPr>
            <a:r>
              <a:rPr sz="1500" b="0" i="0">
                <a:solidFill>
                  <a:srgbClr val="E8E6F0"/>
                </a:solidFill>
                <a:latin typeface="Courier New"/>
              </a:rPr>
              <a:t>    &lt;li&gt;&lt;a id="link-projetos" href="#"&gt;Projetos&lt;/a&gt;&lt;/li&gt;</a:t>
            </a:r>
          </a:p>
          <a:p>
            <a:pPr algn="l">
              <a:lnSpc>
                <a:spcPct val="128000"/>
              </a:lnSpc>
            </a:pPr>
            <a:r>
              <a:rPr sz="1500" b="0" i="0">
                <a:solidFill>
                  <a:srgbClr val="E8E6F0"/>
                </a:solidFill>
                <a:latin typeface="Courier New"/>
              </a:rPr>
              <a:t>  &lt;/ul&gt;</a:t>
            </a:r>
          </a:p>
          <a:p>
            <a:pPr algn="l">
              <a:lnSpc>
                <a:spcPct val="128000"/>
              </a:lnSpc>
            </a:pPr>
            <a:r>
              <a:rPr sz="1500" b="0" i="0">
                <a:solidFill>
                  <a:srgbClr val="E8E6F0"/>
                </a:solidFill>
                <a:latin typeface="Courier New"/>
              </a:rPr>
              <a:t>&lt;/nav&gt;</a:t>
            </a:r>
          </a:p>
          <a:p>
            <a:pPr algn="l">
              <a:lnSpc>
                <a:spcPct val="128000"/>
              </a:lnSpc>
            </a:pPr>
            <a:r>
              <a:rPr sz="1500" b="0" i="0">
                <a:solidFill>
                  <a:srgbClr val="E8E6F0"/>
                </a:solidFill>
                <a:latin typeface="Courier New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500" b="0" i="0">
                <a:solidFill>
                  <a:srgbClr val="E8E6F0"/>
                </a:solidFill>
                <a:latin typeface="Courier New"/>
              </a:rPr>
              <a:t>/* CSS */</a:t>
            </a:r>
          </a:p>
          <a:p>
            <a:pPr algn="l">
              <a:lnSpc>
                <a:spcPct val="128000"/>
              </a:lnSpc>
            </a:pPr>
            <a:r>
              <a:rPr sz="1500" b="0" i="0">
                <a:solidFill>
                  <a:srgbClr val="E8E6F0"/>
                </a:solidFill>
                <a:latin typeface="Courier New"/>
              </a:rPr>
              <a:t>.nav-lista { display: flex; gap: 24px; list-style: none;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E7191"/>
                </a:solidFill>
                <a:latin typeface="Calibri"/>
              </a:rPr>
              <a:t>JAVASCRIPT · BOTÕES · CARTÃO DIGITAL ·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 spc="150">
                <a:solidFill>
                  <a:srgbClr val="6B3FA0"/>
                </a:solidFill>
                <a:latin typeface="Calibri"/>
              </a:rPr>
              <a:t>DEMO</a:t>
            </a:r>
          </a:p>
        </p:txBody>
      </p:sp>
      <p:sp>
        <p:nvSpPr>
          <p:cNvPr id="3" name="Oval 2"/>
          <p:cNvSpPr/>
          <p:nvPr/>
        </p:nvSpPr>
        <p:spPr>
          <a:xfrm>
            <a:off x="11045952" y="384048"/>
            <a:ext cx="594360" cy="594360"/>
          </a:xfrm>
          <a:prstGeom prst="ellipse">
            <a:avLst/>
          </a:prstGeom>
          <a:solidFill>
            <a:srgbClr val="6B3FA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45952" y="384048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6B3FA0"/>
                </a:solidFill>
                <a:latin typeface="Cambria"/>
              </a:rPr>
              <a:t>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E2044"/>
                </a:solidFill>
                <a:latin typeface="Cambria"/>
              </a:rPr>
              <a:t>O link clicado fica destacado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2876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0" i="1">
                <a:solidFill>
                  <a:srgbClr val="6E7191"/>
                </a:solidFill>
                <a:latin typeface="Calibri"/>
              </a:rPr>
              <a:t>A receita de sempre: achar o elemento → escutar o clique → fazer alguma coisa.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10698480" cy="4000000"/>
          </a:xfrm>
          <a:prstGeom prst="roundRect">
            <a:avLst>
              <a:gd name="adj" fmla="val 4375"/>
            </a:avLst>
          </a:prstGeom>
          <a:solidFill>
            <a:srgbClr val="1E2044"/>
          </a:solidFill>
          <a:ln>
            <a:noFill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95560" y="2194560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B9BEEA"/>
                </a:solidFill>
                <a:latin typeface="Courier New"/>
              </a:rPr>
              <a:t>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86000"/>
            <a:ext cx="10241280" cy="353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E8E6F0"/>
                </a:solidFill>
                <a:latin typeface="Courier New"/>
              </a:rPr>
              <a:t>let linkSobre = document.getElementById('link-sobre')</a:t>
            </a:r>
          </a:p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E8E6F0"/>
                </a:solidFill>
                <a:latin typeface="Courier New"/>
              </a:rPr>
              <a:t>let linkProjetos = document.getElementById('link-projetos')</a:t>
            </a:r>
          </a:p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E8E6F0"/>
                </a:solidFill>
                <a:latin typeface="Courier New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E8E6F0"/>
                </a:solidFill>
                <a:latin typeface="Courier New"/>
              </a:rPr>
              <a:t>function destacarSobre() {</a:t>
            </a:r>
          </a:p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E8E6F0"/>
                </a:solidFill>
                <a:latin typeface="Courier New"/>
              </a:rPr>
              <a:t>  linkSobre.classList.add('ativo')</a:t>
            </a:r>
          </a:p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E8E6F0"/>
                </a:solidFill>
                <a:latin typeface="Courier New"/>
              </a:rPr>
              <a:t>  linkProjetos.classList.remove('ativo')</a:t>
            </a:r>
          </a:p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E8E6F0"/>
                </a:solidFill>
                <a:latin typeface="Courier New"/>
              </a:rPr>
              <a:t>}</a:t>
            </a:r>
          </a:p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E8E6F0"/>
                </a:solidFill>
                <a:latin typeface="Courier New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E8E6F0"/>
                </a:solidFill>
                <a:latin typeface="Courier New"/>
              </a:rPr>
              <a:t>function destacarProjetos() {</a:t>
            </a:r>
          </a:p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E8E6F0"/>
                </a:solidFill>
                <a:latin typeface="Courier New"/>
              </a:rPr>
              <a:t>  linkProjetos.classList.add('ativo')</a:t>
            </a:r>
          </a:p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E8E6F0"/>
                </a:solidFill>
                <a:latin typeface="Courier New"/>
              </a:rPr>
              <a:t>  linkSobre.classList.remove('ativo')</a:t>
            </a:r>
          </a:p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E8E6F0"/>
                </a:solidFill>
                <a:latin typeface="Courier New"/>
              </a:rPr>
              <a:t>}</a:t>
            </a:r>
          </a:p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E8E6F0"/>
                </a:solidFill>
                <a:latin typeface="Courier New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E8E6F0"/>
                </a:solidFill>
                <a:latin typeface="Courier New"/>
              </a:rPr>
              <a:t>linkSobre.addEventListener('click', destacarSobre)</a:t>
            </a:r>
          </a:p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E8E6F0"/>
                </a:solidFill>
                <a:latin typeface="Courier New"/>
              </a:rPr>
              <a:t>linkProjetos.addEventListener('click', destacarProjetos)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E7191"/>
                </a:solidFill>
                <a:latin typeface="Calibri"/>
              </a:rPr>
              <a:t>JAVASCRIPT · BOTÕES · CARTÃO DIGITAL ·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 spc="150">
                <a:solidFill>
                  <a:srgbClr val="6B3FA0"/>
                </a:solidFill>
                <a:latin typeface="Calibri"/>
              </a:rPr>
              <a:t>FUNDAMENTOS</a:t>
            </a:r>
          </a:p>
        </p:txBody>
      </p:sp>
      <p:sp>
        <p:nvSpPr>
          <p:cNvPr id="3" name="Oval 2"/>
          <p:cNvSpPr/>
          <p:nvPr/>
        </p:nvSpPr>
        <p:spPr>
          <a:xfrm>
            <a:off x="11045952" y="384048"/>
            <a:ext cx="594360" cy="594360"/>
          </a:xfrm>
          <a:prstGeom prst="ellipse">
            <a:avLst/>
          </a:prstGeom>
          <a:solidFill>
            <a:srgbClr val="6B3FA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45952" y="384048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6B3FA0"/>
                </a:solidFill>
                <a:latin typeface="Cambria"/>
              </a:rPr>
              <a:t>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E2044"/>
                </a:solidFill>
                <a:latin typeface="Cambria"/>
              </a:rPr>
              <a:t>Se der erro, respire — é normal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2876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0" i="1">
                <a:solidFill>
                  <a:srgbClr val="6E7191"/>
                </a:solidFill>
                <a:latin typeface="Calibri"/>
              </a:rPr>
              <a:t>Ler a mensagem de erro é metade do trabalho de resolver.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10698480" cy="960120"/>
          </a:xfrm>
          <a:prstGeom prst="roundRect">
            <a:avLst>
              <a:gd name="adj" fmla="val 5600"/>
            </a:avLst>
          </a:prstGeom>
          <a:solidFill>
            <a:srgbClr val="F2EEF9"/>
          </a:solidFill>
          <a:ln>
            <a:noFill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12848"/>
            <a:ext cx="38404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6B3FA0"/>
                </a:solidFill>
                <a:latin typeface="Courier New"/>
              </a:rPr>
              <a:t>Cannot read properties of null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212848"/>
            <a:ext cx="64008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62A4A"/>
                </a:solidFill>
                <a:latin typeface="Calibri"/>
              </a:rPr>
              <a:t>getElementById não achou o elemento. Confira se o id é igual no HTML.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00400"/>
            <a:ext cx="10698480" cy="960120"/>
          </a:xfrm>
          <a:prstGeom prst="roundRect">
            <a:avLst>
              <a:gd name="adj" fmla="val 5600"/>
            </a:avLst>
          </a:prstGeom>
          <a:solidFill>
            <a:srgbClr val="F2EEF9"/>
          </a:solidFill>
          <a:ln>
            <a:noFill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310128"/>
            <a:ext cx="38404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6B3FA0"/>
                </a:solidFill>
                <a:latin typeface="Courier New"/>
              </a:rPr>
              <a:t>... is not a function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310128"/>
            <a:ext cx="64008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62A4A"/>
                </a:solidFill>
                <a:latin typeface="Calibri"/>
              </a:rPr>
              <a:t>confira se escreveu addEventListener certinho, sem erro de digitação.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97680"/>
            <a:ext cx="10698480" cy="960120"/>
          </a:xfrm>
          <a:prstGeom prst="roundRect">
            <a:avLst>
              <a:gd name="adj" fmla="val 5600"/>
            </a:avLst>
          </a:prstGeom>
          <a:solidFill>
            <a:srgbClr val="F2EEF9"/>
          </a:solidFill>
          <a:ln>
            <a:noFill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407408"/>
            <a:ext cx="38404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6B3FA0"/>
                </a:solidFill>
                <a:latin typeface="Courier New"/>
              </a:rPr>
              <a:t>Nada acontece ao clicar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407408"/>
            <a:ext cx="64008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62A4A"/>
                </a:solidFill>
                <a:latin typeface="Calibri"/>
              </a:rPr>
              <a:t>confira se o &lt;script&gt; está no final do HTML, antes do &lt;/body&gt;.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E7191"/>
                </a:solidFill>
                <a:latin typeface="Calibri"/>
              </a:rPr>
              <a:t>JAVASCRIPT · BOTÕES · CARTÃO DIGITAL ·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 spc="150">
                <a:solidFill>
                  <a:srgbClr val="6B3FA0"/>
                </a:solidFill>
                <a:latin typeface="Calibri"/>
              </a:rPr>
              <a:t>EXERCÍCIO</a:t>
            </a:r>
          </a:p>
        </p:txBody>
      </p:sp>
      <p:sp>
        <p:nvSpPr>
          <p:cNvPr id="3" name="Oval 2"/>
          <p:cNvSpPr/>
          <p:nvPr/>
        </p:nvSpPr>
        <p:spPr>
          <a:xfrm>
            <a:off x="11045952" y="384048"/>
            <a:ext cx="594360" cy="594360"/>
          </a:xfrm>
          <a:prstGeom prst="ellipse">
            <a:avLst/>
          </a:prstGeom>
          <a:solidFill>
            <a:srgbClr val="6B3FA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45952" y="384048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6B3FA0"/>
                </a:solidFill>
                <a:latin typeface="Cambria"/>
              </a:rPr>
              <a:t>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E2044"/>
                </a:solidFill>
                <a:latin typeface="Cambria"/>
              </a:rPr>
              <a:t>O que fazer agora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2876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0" i="1">
                <a:solidFill>
                  <a:srgbClr val="6E7191"/>
                </a:solidFill>
                <a:latin typeface="Calibri"/>
              </a:rPr>
              <a:t>Escolha a trilha que faz sentido pra onde você está.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5120640" cy="2606040"/>
          </a:xfrm>
          <a:prstGeom prst="roundRect">
            <a:avLst>
              <a:gd name="adj" fmla="val 5600"/>
            </a:avLst>
          </a:prstGeom>
          <a:solidFill>
            <a:srgbClr val="F2EEF9"/>
          </a:solidFill>
          <a:ln>
            <a:noFill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6B3FA0"/>
                </a:solidFill>
                <a:latin typeface="Calibri"/>
              </a:rPr>
              <a:t>TRILHA A · reforço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45720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262A4A"/>
                </a:solidFill>
                <a:latin typeface="Calibri"/>
              </a:rPr>
              <a:t>Escolha 2 dos 5 exemplos de hoje e adicione no seu cartão digital.</a:t>
            </a:r>
          </a:p>
          <a:p>
            <a:pPr algn="l"/>
            <a:r>
              <a:rPr sz="1350" b="0" i="0">
                <a:solidFill>
                  <a:srgbClr val="262A4A"/>
                </a:solidFill>
                <a:latin typeface="Calibri"/>
              </a:rPr>
              <a:t/>
            </a:r>
          </a:p>
          <a:p>
            <a:pPr algn="l"/>
            <a:r>
              <a:rPr sz="1350" b="0" i="0">
                <a:solidFill>
                  <a:srgbClr val="262A4A"/>
                </a:solidFill>
                <a:latin typeface="Calibri"/>
              </a:rPr>
              <a:t>Copie o código, mude só o id e o texto — sem pressa.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103120"/>
            <a:ext cx="5120640" cy="2606040"/>
          </a:xfrm>
          <a:prstGeom prst="roundRect">
            <a:avLst>
              <a:gd name="adj" fmla="val 5600"/>
            </a:avLst>
          </a:prstGeom>
          <a:solidFill>
            <a:srgbClr val="F2EEF9"/>
          </a:solidFill>
          <a:ln>
            <a:noFill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6B3FA0"/>
                </a:solidFill>
                <a:latin typeface="Calibri"/>
              </a:rPr>
              <a:t>TRILHA B · desafio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651760"/>
            <a:ext cx="45720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262A4A"/>
                </a:solidFill>
                <a:latin typeface="Calibri"/>
              </a:rPr>
              <a:t>Adicione um contador de cliques a um link do seu menu.</a:t>
            </a:r>
          </a:p>
          <a:p>
            <a:pPr algn="l"/>
            <a:r>
              <a:rPr sz="1350" b="0" i="0">
                <a:solidFill>
                  <a:srgbClr val="262A4A"/>
                </a:solidFill>
                <a:latin typeface="Calibri"/>
              </a:rPr>
              <a:t/>
            </a:r>
          </a:p>
          <a:p>
            <a:pPr algn="l"/>
            <a:r>
              <a:rPr sz="1350" b="0" i="0">
                <a:solidFill>
                  <a:srgbClr val="262A4A"/>
                </a:solidFill>
                <a:latin typeface="Calibri"/>
              </a:rPr>
              <a:t>Depois, tente fazer o navbar destacar o link clicado.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93884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1">
                <a:solidFill>
                  <a:srgbClr val="6E7191"/>
                </a:solidFill>
                <a:latin typeface="Calibri"/>
              </a:rPr>
              <a:t>Se travar: F12 → Console → leia a mensagem de erro. Chame a professora antes de ficar preso mais de 5 minutos.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E7191"/>
                </a:solidFill>
                <a:latin typeface="Calibri"/>
              </a:rPr>
              <a:t>JAVASCRIPT · BOTÕES · CARTÃO DIGITAL ·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 spc="150">
                <a:solidFill>
                  <a:srgbClr val="6B3FA0"/>
                </a:solidFill>
                <a:latin typeface="Calibri"/>
              </a:rPr>
              <a:t>FECHAMENTO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E2044"/>
                </a:solidFill>
                <a:latin typeface="Cambria"/>
              </a:rPr>
              <a:t>O que levamos de hoje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120640" cy="4160520"/>
          </a:xfrm>
          <a:prstGeom prst="roundRect">
            <a:avLst>
              <a:gd name="adj" fmla="val 5600"/>
            </a:avLst>
          </a:prstGeom>
          <a:solidFill>
            <a:srgbClr val="F2EEF9"/>
          </a:solidFill>
          <a:ln>
            <a:noFill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6B3FA0"/>
                </a:solidFill>
                <a:latin typeface="Calibri"/>
              </a:rPr>
              <a:t>RESUMO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457200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262A4A"/>
                </a:solidFill>
                <a:latin typeface="Calibri"/>
              </a:rPr>
              <a:t>• Achar → escutar → fazer. Sempre esses 3 passos, em qualquer botão.</a:t>
            </a:r>
          </a:p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262A4A"/>
                </a:solidFill>
                <a:latin typeface="Calibri"/>
              </a:rPr>
              <a:t>• getElementById usa só o nome do id, sem #.</a:t>
            </a:r>
          </a:p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262A4A"/>
                </a:solidFill>
                <a:latin typeface="Calibri"/>
              </a:rPr>
              <a:t>• addEventListener recebe o nome da função, sem parênteses.</a:t>
            </a:r>
          </a:p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262A4A"/>
                </a:solidFill>
                <a:latin typeface="Calibri"/>
              </a:rPr>
              <a:t>• Um &lt;a&gt; funciona igual um &lt;button&gt;.</a:t>
            </a:r>
          </a:p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262A4A"/>
                </a:solidFill>
                <a:latin typeface="Calibri"/>
              </a:rPr>
              <a:t>• Deu erro? Lê a mensagem no Console — ela sempre ajuda.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783080"/>
            <a:ext cx="5715000" cy="41605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9659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6B3FA0"/>
                </a:solidFill>
                <a:latin typeface="Calibri"/>
              </a:rPr>
              <a:t>EXIT CHECK · 5 PERGUNTAS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42316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2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42316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6B3FA0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4231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262A4A"/>
                </a:solidFill>
                <a:latin typeface="Calibri"/>
              </a:rPr>
              <a:t>Quais são os 3 passos da receita de hoje?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0632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2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306324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6B3FA0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0632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262A4A"/>
                </a:solidFill>
                <a:latin typeface="Calibri"/>
              </a:rPr>
              <a:t>getElementById usa # ou não?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7033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2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370332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6B3FA0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37033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262A4A"/>
                </a:solidFill>
                <a:latin typeface="Calibri"/>
              </a:rPr>
              <a:t>Como eu mudo o texto de um elemento?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34340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2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43434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6B3FA0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43434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262A4A"/>
                </a:solidFill>
                <a:latin typeface="Calibri"/>
              </a:rPr>
              <a:t>Um link pode disparar um clique igual um botão?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9834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2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4983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6B3FA0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49834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262A4A"/>
                </a:solidFill>
                <a:latin typeface="Calibri"/>
              </a:rPr>
              <a:t>Onde eu vejo os erros do meu JS?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172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1">
                <a:solidFill>
                  <a:srgbClr val="6E7191"/>
                </a:solidFill>
                <a:latin typeface="Calibri"/>
              </a:rPr>
              <a:t>Próxima aula: mais uma rodada de exemplos, e o começo dos arrays.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E7191"/>
                </a:solidFill>
                <a:latin typeface="Calibri"/>
              </a:rPr>
              <a:t>JAVASCRIPT · BOTÕES · CARTÃO DIGITAL ·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